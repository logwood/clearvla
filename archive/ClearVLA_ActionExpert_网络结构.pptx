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73736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a:kern="0">
                <a:solidFill>
                  <a:srgbClr val="FFFFFF"/>
                </a:solidFill>
                <a:latin typeface="Microsoft YaHei"/>
              </a:rPr>
              <a:t>ClearVLA · Action Expert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a:kern="0">
                <a:solidFill>
                  <a:srgbClr val="E9A23B"/>
                </a:solidFill>
                <a:latin typeface="Microsoft YaHei"/>
              </a:rPr>
              <a:t>8 阶段网络结构 × 代码实现对照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88920"/>
            <a:ext cx="10515600" cy="54864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a:kern="0">
                <a:solidFill>
                  <a:srgbClr val="CADCFC"/>
                </a:solidFill>
                <a:latin typeface="Microsoft YaHei"/>
              </a:rPr>
              <a:t>对照 action_expert_layer_insights.md 逐块翻出的具体实现 · 主体在 policy_v39.py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11880"/>
            <a:ext cx="10561320" cy="1234440"/>
          </a:xfrm>
          <a:prstGeom prst="roundRect">
            <a:avLst>
              <a:gd name="adj" fmla="val 10000"/>
            </a:avLst>
          </a:prstGeom>
          <a:solidFill>
            <a:srgbClr val="2C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 a:kern="0">
                <a:solidFill>
                  <a:srgbClr val="FFFFFF"/>
                </a:solidFill>
                <a:latin typeface="Microsoft YaHei"/>
              </a:rPr>
              <a:t>“我们要的不是一个更强的动作回归器，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a:kern="0">
                <a:solidFill>
                  <a:srgbClr val="FFFFFF"/>
                </a:solidFill>
                <a:latin typeface="Microsoft YaHei"/>
              </a:rPr>
              <a:t>而是一个被世界表征、latent 意图与逐步 refinement 共同约束的动作求解器。”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755648" y="5257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12848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88336" y="525780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5536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21024" y="5257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④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78224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53712" y="5257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0912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86400" y="52578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19088" y="525780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76288" y="5486400"/>
            <a:ext cx="475488" cy="0"/>
          </a:xfrm>
          <a:prstGeom prst="line">
            <a:avLst/>
          </a:prstGeom>
          <a:ln w="15240">
            <a:solidFill>
              <a:srgbClr val="CADCF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51776" y="52578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a:kern="0">
                <a:solidFill>
                  <a:srgbClr val="FFFFFF"/>
                </a:solidFill>
                <a:latin typeface="Microsoft YaHei"/>
              </a:rPr>
              <a:t>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a:kern="0">
                <a:solidFill>
                  <a:srgbClr val="9AA6C4"/>
                </a:solidFill>
                <a:latin typeface="Consolas"/>
              </a:rPr>
              <a:t>clearvla/experiments/observed_state_lab/policy_v39.py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61288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a:kern="0">
                <a:solidFill>
                  <a:srgbClr val="21295C"/>
                </a:solidFill>
                <a:latin typeface="Microsoft YaHei"/>
              </a:rPr>
              <a:t>ClearVLA Action Expert — 8 阶段网络结构 × 代码实现</a:t>
            </a:r>
          </a:p>
        </p:txBody>
      </p:sp>
      <p:sp>
        <p:nvSpPr>
          <p:cNvPr id="4" name="Oval 3"/>
          <p:cNvSpPr/>
          <p:nvPr/>
        </p:nvSpPr>
        <p:spPr>
          <a:xfrm>
            <a:off x="384048" y="749808"/>
            <a:ext cx="164592" cy="16459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658368"/>
            <a:ext cx="1554480" cy="3200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a:kern="0">
                <a:solidFill>
                  <a:srgbClr val="1B2733"/>
                </a:solidFill>
                <a:latin typeface="Microsoft YaHei"/>
              </a:rPr>
              <a:t>世界表征</a:t>
            </a:r>
          </a:p>
        </p:txBody>
      </p:sp>
      <p:sp>
        <p:nvSpPr>
          <p:cNvPr id="6" name="Oval 5"/>
          <p:cNvSpPr/>
          <p:nvPr/>
        </p:nvSpPr>
        <p:spPr>
          <a:xfrm>
            <a:off x="1801368" y="749808"/>
            <a:ext cx="164592" cy="164592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2536" y="658368"/>
            <a:ext cx="1554480" cy="3200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a:kern="0">
                <a:solidFill>
                  <a:srgbClr val="1B2733"/>
                </a:solidFill>
                <a:latin typeface="Microsoft YaHei"/>
              </a:rPr>
              <a:t>意图 latent</a:t>
            </a:r>
          </a:p>
        </p:txBody>
      </p:sp>
      <p:sp>
        <p:nvSpPr>
          <p:cNvPr id="8" name="Oval 7"/>
          <p:cNvSpPr/>
          <p:nvPr/>
        </p:nvSpPr>
        <p:spPr>
          <a:xfrm>
            <a:off x="3218688" y="749808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658368"/>
            <a:ext cx="1554480" cy="3200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a:kern="0">
                <a:solidFill>
                  <a:srgbClr val="1B2733"/>
                </a:solidFill>
                <a:latin typeface="Microsoft YaHei"/>
              </a:rPr>
              <a:t>画布·路由</a:t>
            </a:r>
          </a:p>
        </p:txBody>
      </p:sp>
      <p:sp>
        <p:nvSpPr>
          <p:cNvPr id="10" name="Oval 9"/>
          <p:cNvSpPr/>
          <p:nvPr/>
        </p:nvSpPr>
        <p:spPr>
          <a:xfrm>
            <a:off x="4636008" y="749808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658368"/>
            <a:ext cx="1554480" cy="3200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a:kern="0">
                <a:solidFill>
                  <a:srgbClr val="1B2733"/>
                </a:solidFill>
                <a:latin typeface="Microsoft YaHei"/>
              </a:rPr>
              <a:t>更新核心</a:t>
            </a:r>
          </a:p>
        </p:txBody>
      </p:sp>
      <p:sp>
        <p:nvSpPr>
          <p:cNvPr id="12" name="Oval 11"/>
          <p:cNvSpPr/>
          <p:nvPr/>
        </p:nvSpPr>
        <p:spPr>
          <a:xfrm>
            <a:off x="6053328" y="749808"/>
            <a:ext cx="164592" cy="164592"/>
          </a:xfrm>
          <a:prstGeom prst="ellipse">
            <a:avLst/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658368"/>
            <a:ext cx="1554480" cy="32004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a:kern="0">
                <a:solidFill>
                  <a:srgbClr val="1B2733"/>
                </a:solidFill>
                <a:latin typeface="Microsoft YaHei"/>
              </a:rPr>
              <a:t>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987552"/>
            <a:ext cx="11521440" cy="274320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a:kern="0">
                <a:solidFill>
                  <a:srgbClr val="647483"/>
                </a:solidFill>
                <a:latin typeface="Microsoft YaHei"/>
              </a:rPr>
              <a:t>纵向数据流：DINOv2 视觉缓存 + qpos → DiT trunk → 意图 z → 动作画布 → 逐步精炼 → 读出 24×7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298448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理解世界与任务阶段；分层分工，不是 8 个并联动作预测器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298448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① DiT Trunk ｜ 世界表征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Microsoft YaHei"/>
              </a:rPr>
              <a:t>TemporalMidcutWorldActionDiT · L0…L7 summaries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298448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pflow · rollout · delta · event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78424" y="1865376"/>
            <a:ext cx="0" cy="105155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1970531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层序递归压缩(纵向)，取代 hypercolumn 平铺的横向捷径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1970531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② Condition Fusion + Layer Scan ｜ 表征接口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Consolas"/>
              </a:rPr>
              <a:t>LatentCVAEActionDecoder.layer_scan = GRUCell(h,h)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1970531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cscan 有量 · clat 不可接管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78424" y="2537460"/>
            <a:ext cx="0" cy="105155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" y="2642615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把 condition 压成有限容量意图，限制 decoder 自由度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8" y="2642615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③ CVAE Prior / Posterior → z ｜ 意图瓶颈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Microsoft YaHei"/>
              </a:rPr>
              <a:t>prior p(z|c) · posterior q(z|c,a) · z_dim=64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2642615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cz·cpz·cmug·ckl·cstd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78424" y="3209544"/>
            <a:ext cx="0" cy="105155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5760" y="3314700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动作画布而非最终动作；x_t 是问题提示，不是答案草稿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0128" y="3314700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④ Horizon Action Tokens ｜ 动作画布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Consolas"/>
              </a:rPr>
              <a:t>horizon_query[1,H,h] + z_to_token + noisy_action_lift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3314700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mdna / noisy 不可长期主导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78424" y="3881628"/>
            <a:ext cx="0" cy="105156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" y="3986783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每步选择读哪层/哪进度/哪 capsule（progress route）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0128" y="3986783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⑤ Adaptive Route / Context Capsules ｜ 分工选择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Microsoft YaHei"/>
              </a:rPr>
              <a:t>AdaptiveRecurrentCVAEActionDecoder · route + capsules(6)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47888" y="3986783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crmax·creff·cprmax·cprog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78424" y="4553712"/>
            <a:ext cx="0" cy="105156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5760" y="4658868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每步 condition 不同 → 纵向 refinement，非横向定点迭代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8" y="4658868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⑥ Dynamic Condition Token ｜ 逐步条件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Microsoft YaHei"/>
              </a:rPr>
              <a:t>prefix + routed + progress + step_bias · refine_steps=3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47888" y="4658868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cadu·crmax·cprog·cprefix ≠ 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78424" y="5225796"/>
            <a:ext cx="0" cy="105156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65760" y="5330952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把条件写进 action tokens；不可绕过 adaptive 成强拟合器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0128" y="5330952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⑦ MMDiT Block ｜ 强更新核心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Microsoft YaHei"/>
              </a:rPr>
              <a:t>LatentCVAEMMDiTBlock · action attend [action‖cond]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47888" y="5330952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mdu·mdca↑·mdna↓·cadu 在环内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78424" y="5897880"/>
            <a:ext cx="0" cy="105156"/>
          </a:xfrm>
          <a:prstGeom prst="line">
            <a:avLst/>
          </a:prstGeom>
          <a:ln w="29209">
            <a:solidFill>
              <a:srgbClr val="4E5A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65760" y="6003036"/>
            <a:ext cx="2761488" cy="56692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只做读出、保持简单；建模发生在前面各层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0128" y="6003036"/>
            <a:ext cx="4736592" cy="566928"/>
          </a:xfrm>
          <a:prstGeom prst="roundRect">
            <a:avLst>
              <a:gd name="adj" fmla="val 10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a:kern="0">
                <a:solidFill>
                  <a:srgbClr val="FFFFFF"/>
                </a:solidFill>
                <a:latin typeface="Microsoft YaHei"/>
              </a:rPr>
              <a:t>⑧ Velocity / Event Head ｜ 读出器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a:kern="0">
                <a:solidFill>
                  <a:srgbClr val="ECF3F7"/>
                </a:solidFill>
                <a:latin typeface="Microsoft YaHei"/>
              </a:rPr>
              <a:t>TransitionAwarePhysicalVelocityHead + event_head → 24×7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47888" y="6003036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9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a:kern="0">
                <a:solidFill>
                  <a:srgbClr val="647483"/>
                </a:solidFill>
                <a:latin typeface="Microsoft YaHei"/>
              </a:rPr>
              <a:t>健康 / 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a:kern="0">
                <a:solidFill>
                  <a:srgbClr val="1B2733"/>
                </a:solidFill>
                <a:latin typeface="Microsoft YaHei"/>
              </a:rPr>
              <a:t>风险：head 过强会绕过结构分工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 anchor="t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a:kern="0">
                <a:solidFill>
                  <a:srgbClr val="21295C"/>
                </a:solidFill>
                <a:latin typeface="Microsoft YaHei"/>
              </a:rPr>
              <a:t>阶段 → 代码实现 → 关键 knob（默认）→ 健康信号 → 风险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68680"/>
          <a:ext cx="11475720" cy="5532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429000"/>
                <a:gridCol w="2880360"/>
                <a:gridCol w="1783080"/>
                <a:gridCol w="1691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63500" marR="50800" marT="25400" marB="2540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代码实现（policy_v39.py）</a:t>
                      </a:r>
                    </a:p>
                  </a:txBody>
                  <a:tcPr marL="63500" marR="50800" marT="25400" marB="2540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关键 knob（默认）</a:t>
                      </a:r>
                    </a:p>
                  </a:txBody>
                  <a:tcPr marL="63500" marR="50800" marT="25400" marB="2540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健康信号</a:t>
                      </a:r>
                    </a:p>
                  </a:txBody>
                  <a:tcPr marL="63500" marR="50800" marT="25400" marB="2540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风险 / 失败模式</a:t>
                      </a:r>
                    </a:p>
                  </a:txBody>
                  <a:tcPr marL="63500" marR="50800" marT="25400" marB="25400" anchor="ctr">
                    <a:solidFill>
                      <a:srgbClr val="21295C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① Trunk 世界表征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TemporalMidcutWorldActionDiT:3955 · MidcutContractHeads:530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midcut_layer · layer_recurrent_consequence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pflow·rollout·delta·event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trunk 沦为低带宽 summary 供应商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② Condition+LayerScan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LatentCVAEActionDecoder:2352 · GRUCell layer_scan + fusion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latent_cvae_layer_scan · _alpha=0.2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cscan · clat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lateral 接管 → 横向捷径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③ CVAE z 意图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prior/posterior · _kl_diag_gaussians:2523 · 部署走 prior ~2823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z_dim=64 · mu_bound=1.5 · min_std=0.5 · KL=5e-4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cz·cpz·cmug·ckl·cstd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posterior 泄漏目标动作（V42.1 已修）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④ Action 画布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horizon_query · z_to_token · noisy_action_lift ~2372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latent_cvae_noisy_gate(_min=0.05,_power=1.5)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mdna · noisy_branch_ratio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x_t → 输出 去噪捷径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⑤ Route/Capsules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AdaptiveRecurrentCVAEActionDecoder:2961 · route+capsules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route_sparsemax · capsule_count=6 · progress_steps=6 · entropy_floor=0.35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crmax·creff·cprmax·cprog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route 塌成单 slot 或过均匀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⑥ Dynamic Condition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同上 decoder · 逐步 dynamic condition token 构造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refine_steps=3 · step_roles · function_rank=64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cadu·crmax·cprog·cprefix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退化为横向定点迭代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⑦ MMDiT 更新核心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LatentCVAEMMDiTBlock:1937（替代 MicroRefineBlock:2113）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mmdit_decoder · mmdit_depth=3 · noisy_causal=1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mdu·mdca·mdna·cadu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绕过 adaptive → 强底部拟合器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1B2733"/>
                          </a:solidFill>
                          <a:latin typeface="Microsoft YaHei"/>
                        </a:rPr>
                        <a:t>⑧ Velocity/Event Head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Consolas"/>
                        </a:rPr>
                        <a:t>TransitionAwarePhysicalVelocityHead(policy_v36_3:96)+event_head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latent_cvae_event_gripper_gate=1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—（读出，无自由度）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1B2733"/>
                          </a:solidFill>
                          <a:latin typeface="Microsoft YaHei"/>
                        </a:rPr>
                        <a:t>head 过强绕过结构分工</a:t>
                      </a:r>
                    </a:p>
                  </a:txBody>
                  <a:tcPr marL="63500" marR="50800" marT="25400" marB="2540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55664"/>
            <a:ext cx="11430000" cy="310896"/>
          </a:xfrm>
          <a:prstGeom prst="rect">
            <a:avLst/>
          </a:prstGeom>
          <a:noFill/>
        </p:spPr>
        <p:txBody>
          <a:bodyPr wrap="square" anchor="ctr" lIns="63500" rIns="635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a:kern="0">
                <a:solidFill>
                  <a:srgbClr val="647483"/>
                </a:solidFill>
                <a:latin typeface="Microsoft YaHei"/>
              </a:rPr>
              <a:t>行号为 policy_v39.py 中类/函数定义位置；knob 名对应 V39PolicyConfig 字段。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